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Arial"/>
              </a:rPr>
              <a:t>Baseline vs QUBO-optimised reasoning selection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(use all)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Fragments used</c:v>
                  </c:pt>
                  <c:pt idx="1">
                    <c:v>QUBO Energy (×−1)</c:v>
                  </c:pt>
                  <c:pt idx="2">
                    <c:v>Avg redundancy (×100)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0.75</c:v>
                </c:pt>
                <c:pt idx="2">
                  <c:v>3.62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QUBO-optimised</c:v>
                </c:pt>
              </c:strCache>
            </c:strRef>
          </c:tx>
          <c:spPr>
            <a:solidFill>
              <a:srgbClr val="1428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Fragments used</c:v>
                  </c:pt>
                  <c:pt idx="1">
                    <c:v>QUBO Energy (×−1)</c:v>
                  </c:pt>
                  <c:pt idx="2">
                    <c:v>Avg redundancy (×100)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2.63</c:v>
                </c:pt>
                <c:pt idx="2">
                  <c:v>1.98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548640" cy="68580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Quantum-Inspired AI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Systems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Monthly Connect  |  May 2026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Worklet 26ARS05  —  Quantum-inspired Annealing for Multi-stage Reasoning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05 /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5852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SRI-B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806440"/>
            <a:ext cx="45720" cy="3200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5806440"/>
            <a:ext cx="45720" cy="3200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– Quantum AI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2743200" cy="640080"/>
          </a:xfrm>
          <a:prstGeom prst="rect">
            <a:avLst/>
          </a:prstGeom>
          <a:solidFill>
            <a:srgbClr val="C8E6C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280160"/>
            <a:ext cx="7772400" cy="640080"/>
          </a:xfrm>
          <a:prstGeom prst="rect">
            <a:avLst/>
          </a:prstGeom>
          <a:solidFill>
            <a:srgbClr val="C8E6C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28016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Quantum-inspired Annealing for Multi-stage Reasoning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920240"/>
            <a:ext cx="2743200" cy="64008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920240"/>
            <a:ext cx="7772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Worklet 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92024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26ARS05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2560320"/>
            <a:ext cx="2743200" cy="64008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560320"/>
            <a:ext cx="7772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SRIB Mentor(s)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5603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Debanjan Konar  and  Pragya Paramita Sahu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200400"/>
            <a:ext cx="2743200" cy="64008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3200400"/>
            <a:ext cx="7772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320040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filled by student team]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3840480"/>
            <a:ext cx="2743200" cy="64008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840480"/>
            <a:ext cx="7772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384048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filled by student team]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4480560"/>
            <a:ext cx="2743200" cy="64008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4480560"/>
            <a:ext cx="7772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480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0" y="448056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2026 – May 2026  (Month 4 of 4)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– Monthly Connect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594360" cy="59436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Month's Progress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737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completed in Feb–May window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Achieved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2514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against the worklet milestone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971800"/>
            <a:ext cx="594360" cy="59436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Challenges &amp; Resolutions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3291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Roadblocks encountered and how solved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594360" cy="59436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So Far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069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SLM+QUBO pipeline + measurements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526280"/>
            <a:ext cx="594360" cy="59436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526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3736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37360" y="4846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results tell 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5303520"/>
            <a:ext cx="594360" cy="59436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737360" y="5257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Month's Plan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37360" y="5623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Jun–Jul roadmap and Q&amp;A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Design and implement Quantum-inspired Annealing for Multi-stage Reasoning using Small Language Models (SLMs)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(Initial Prompt)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1965960"/>
            <a:ext cx="502920" cy="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5544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(Llama-3.2-3B)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965960"/>
            <a:ext cx="502920" cy="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 → reasons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9659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 → reasons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5146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Answer N → reasons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1965960"/>
            <a:ext cx="502920" cy="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Reasons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 × N fragments)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09760" y="1965960"/>
            <a:ext cx="502920" cy="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5840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Mapping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Quantum Solver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5661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Reasons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Query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3977640"/>
            <a:ext cx="502920" cy="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08960" y="35661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08960" y="356616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Prompt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977640"/>
            <a:ext cx="502920" cy="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35661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94960" y="356616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(2nd SLM pass)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3977640"/>
            <a:ext cx="502920" cy="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680960" y="35661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80960" y="356616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Answer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063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Process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526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Reasons and Retrieving the Final Answer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120640"/>
            <a:ext cx="10972800" cy="128016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status: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fully implemented end-to-end (Steps 1 – 6) and runs on CPU using dwave-neal Simulated Annealing.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on two test queries; achieves 75 % prompt compression and significantly lower QUBO energy than baseline.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month: swap MockSLM for TinyLlama-1.1B / Llama-3.2-3B on HPC and benchmark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Last Month's Progress  (Feb – May 2026)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milestones from the worklet roadmap were planned for this window – all three are now complete.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48640" cy="1508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188720" y="1325880"/>
            <a:ext cx="9144000" cy="150876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on LLMs &amp; Reasoning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82880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Surveyed 10 core papers (refs [1] – [10] in worklet PDF).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LLM training-to-inference [1], zero-shot reasoning [3], and ReAct [4].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the gap: SLMs reason worse than 70B+ models — motivating this worklet.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424160" y="18288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548640" cy="1508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7180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1188720" y="2971800"/>
            <a:ext cx="9144000" cy="150876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Variants &amp; Prompting Algorithms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7472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CoT [2], Zero-shot CoT [3], Least-to-Most, Self-Consistency [5].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Tree-of-Thoughts [6], Ranked-Voting Self-Consistency [7], ReAct [4].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Combinatorial Reasoning (CR) [8] and Quantum CR-LLM [9] mapped to our pipeline.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24160" y="34747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548640" cy="1508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1772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1188720" y="4617720"/>
            <a:ext cx="9144000" cy="150876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709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— Understanding &amp; Analysis Report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512064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formalism min xᵀQx documented with proofs and worked examples.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3-variable brute-force demo  (qubo_basic_example.py).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full SLM + QUBO + Simulated Annealing pipeline  (slm_qubo_pipeline.py).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424160" y="512064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0" y="5120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Lit. Review – Part A : LLMs &amp; Reasoning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structured reasoning is needed beyond raw model scaling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5669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 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parameters alone is no longer enough — even GPT-4 fails multi-step planning tasks.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 (2025) [1] 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the complete training-to-inference lifecycle of modern LLMs and conclude that the community has shifted toward structured prompting + reasoning aggregation + optimisation-based selection.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 for SLMs 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 B SLM such as Llama-3.2-3B cannot match 70 B+ models on reasoning by itself, but pairing it with optimisation-based reasoning selection (this worklet) is hypothesised to recover much of that gap.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280160"/>
            <a:ext cx="5486400" cy="1097280"/>
          </a:xfrm>
          <a:prstGeom prst="rect">
            <a:avLst/>
          </a:prstGeom>
          <a:solidFill>
            <a:srgbClr val="E8EEF7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280160"/>
            <a:ext cx="91440" cy="10972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Liu et al. (2025)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7373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LLMs: Training to Inference. Neurocomputing 620.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514600"/>
            <a:ext cx="5486400" cy="1097280"/>
          </a:xfrm>
          <a:prstGeom prst="rect">
            <a:avLst/>
          </a:prstGeom>
          <a:solidFill>
            <a:srgbClr val="E8EEF7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514600"/>
            <a:ext cx="91440" cy="10972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606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Wei et al. (2022)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971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 prompting elicits reasoning. NeurIPS '22.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3749040"/>
            <a:ext cx="5486400" cy="1097280"/>
          </a:xfrm>
          <a:prstGeom prst="rect">
            <a:avLst/>
          </a:prstGeom>
          <a:solidFill>
            <a:srgbClr val="E8EEF7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749040"/>
            <a:ext cx="91440" cy="10972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 Kojima et al. (2022)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2062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are Zero-Shot Reasoners. NeurIPS '22.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4983480"/>
            <a:ext cx="5486400" cy="1097280"/>
          </a:xfrm>
          <a:prstGeom prst="rect">
            <a:avLst/>
          </a:prstGeom>
          <a:solidFill>
            <a:srgbClr val="E8EEF7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983480"/>
            <a:ext cx="91440" cy="10972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5074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 Yao et al. (2022)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54406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 Synergizing Reasoning and Acting. ICLR '23.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Lit. Review – Part B : CoT Variants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recent CoT / prompting algorithms reviewed for this worklet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338328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Idea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Benefit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Chain-of-Thought (CoT)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 intermediate steps before the final answer.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gains on math + symbolic reasoning.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 CoT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Prepend 'Let's think step by step.' — no exemplars needed.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Turns any large LLM into a zero-shot reasoner.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Least-to-Most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Decompose problem → solve sub-problems sequentially.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99.7 % on SCAN compositional benchmark.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Self-Consistency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 N chains, majority-vote the final answer.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 – 24 % on GSM8K / MultiArith / SVAMP.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[5]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Interleave Thought – Action – Observation with tools.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hallucination on HotpotQA / Fever.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Tree-of-Thoughts (ToT)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+ evaluate + backtrack over partial thoughts.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Game-of-24: 4 % (CoT) → 74 % (ToT) with GPT-4.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[6]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Ranked-Voting SC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Ranked / weighted voting instead of plain majority.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 on multi-answer + free-form tasks.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[7]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Combinatorial Reasoning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Pick reasons via QUBO over LLM-generated fragments.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Removes need for hand-crafted exemplars.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[8]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Quantum CR-LLM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QUBO/HUBO solved by quantum-inspired annealer.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accuracy &amp; runtime vs classical CR.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worklet builds directly on Self-Consistency [5] + Combinatorial Reasoning [8] + QCR-LLM [9] — using an SLM and simulated annealing on CPU/HPC.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– Quadratic Unconstrained Binary Opt.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mathematical foundation of our reasoning-selection module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E8EEF7"/>
          </a:solidFill>
          <a:ln w="1905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f(x)  =  xᵀ Q x   =   Σᵢ Qᵢᵢ xᵢ   +   Σᵢ&lt;ⱼ Qᵢⱼ xᵢ xⱼ          subject to   x ∈ { 0, 1 }ⁿ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3657600" cy="457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 ∈ {0, 1}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decision variable.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pipeline: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xᵢ = 1 ⇒ include reasoning fragment i in the final prompt.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278892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788920"/>
            <a:ext cx="36576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Qᵢᵢ  (diagonal)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33756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/ unary cost.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Qᵢᵢ = −relevance(i, query).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⇒ rewards relevant fragments.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278892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788920"/>
            <a:ext cx="365760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Qᵢⱼ  (off-diagonal)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333756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interaction.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Qᵢⱼ = +redundancy(i, j).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⇒ penalises redundant pairs.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ect">
            <a:avLst/>
          </a:prstGeom>
          <a:solidFill>
            <a:srgbClr val="FFF8E1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QUBO?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is NP-hard in general, but it is the </a:t>
            </a:r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input language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D-Wave quantum annealers and quantum-inspired simulated annealers (dwave-neal, Fujitsu Digital Annealer, Toshiba SQBM+). Combinatorial reasoning problems — including the one in this worklet — map onto QUBO directly. We get speedups today on CPU and a future drop-in path to quantum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– Basic Code Walkthrough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qubo_basic_example.py  —  3-variable brute-force enumeration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6583680" cy="5029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17320"/>
            <a:ext cx="6309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itertools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QUBO matrix Q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np.array([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[ 1, -2,  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[-2,  4, -2],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[ 0, -2,  2],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best_energy = float('inf')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best_x = None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bits in itertools.product([0,1], repeat=3):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np.array(bits)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= float(x @ Q @ 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 &lt; best_energy: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best_energy, best_x = e, x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print('Best x* =', best_x)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print('Min energy =', best_energy)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280160"/>
            <a:ext cx="4297680" cy="22860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(verified on CPU)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16916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[0,0,0]  →  energy = 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[0,0,1]  →  energy = +2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[0,1,0]  →  energy = +4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[1,0,0]  →  energy = +1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[1,1,0]  →  energy = +1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[1,1,1]  →  energy = −1  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x* = [1, 1, 1],  min f = −1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3703320"/>
            <a:ext cx="4297680" cy="2606040"/>
          </a:xfrm>
          <a:prstGeom prst="rect">
            <a:avLst/>
          </a:prstGeom>
          <a:solidFill>
            <a:srgbClr val="E8EEF7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411480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Brute-force enumeration is tractable up to n ≈ 20 (2²⁰ ≈ 10⁶ states).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24-fragment problem in our pipeline (n = 24), we instead use dwave-neal Simulated Annealing — a quantum-inspired solver.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pipeline (next slides) sweeps in only ~0.1 s on CPU.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+ QUBO Pipeline  (slm_qubo_pipeline.py)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working code – CPU now, drop-in HPC / D-Wave switch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280160" cy="7315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20240" y="1325880"/>
            <a:ext cx="9692640" cy="73152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Reasoning Chains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16916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samples N=4 diverse CoT chains for the query.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130552"/>
            <a:ext cx="1280160" cy="7315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3055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920240" y="2130552"/>
            <a:ext cx="9692640" cy="73152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176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Reasoning Fragments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249631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chains into atomic sentences → 24 binary vars.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935224"/>
            <a:ext cx="1280160" cy="7315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3522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920240" y="2935224"/>
            <a:ext cx="9692640" cy="73152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980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QUBO Matrix 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3300984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relevance on diagonal, similarity penalty off-diag.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739896"/>
            <a:ext cx="1280160" cy="7315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3989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920240" y="3739896"/>
            <a:ext cx="9692640" cy="731520"/>
          </a:xfrm>
          <a:prstGeom prst="rect">
            <a:avLst/>
          </a:prstGeom>
          <a:solidFill>
            <a:srgbClr val="FFEDE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7856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Quantum-Inspired Annealing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410565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dwave-neal SimulatedAnnealingSampler, 200 reads.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544568"/>
            <a:ext cx="1280160" cy="7315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5445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920240" y="4544568"/>
            <a:ext cx="9692640" cy="73152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4590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Optimised Final Prompt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03120" y="491032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6 selected fragments + query → compact prompt.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349240"/>
            <a:ext cx="1280160" cy="7315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349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920240" y="5349240"/>
            <a:ext cx="9692640" cy="73152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Final Answer (SLLM pass)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103120" y="57150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SLM pass produces the final, focused answer.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Code – Step 3 : Build QUBO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function converts LLM output → optimisation problem.  Key implementation detail of the worklet.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step3_build_qubo(query, fragments):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len(fragments)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Relevance: cosine(query, fragment_i) via TF-IDF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 = compute_tfidf_similarity([query] + fragments)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query_relevance = sim[0, 1:]                # length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frag_sim        = compute_tfidf_similarity(fragments)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length_bonus    = np.array([len(f)/max_len for f in fragments]) * 0.3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{}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Diagonal: negative reward = relevance + length bonus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reward = RELEVANCE_REWARD * query_relevance[i] + length_bonus[i]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Q[(i, i)] = -reward            # minimise ⇒ negative = reward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Off-diagonal: positive penalty for similar (redundant) pairs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range(i+1, 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frag_sim[i, j] &gt; 0.15: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Q[(i, j)] = REDUNDANCY_PENALTY * frag_sim[i, j]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Q     # passed to dimod.BinaryQuadraticModel + dwave-neal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KPIs Achieved – Feb to May Milestone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Feb-May worklet deliverables met, plus an early prototype of the Jun-Jul deliverable.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274320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papers reviewed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274320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/ prompting variants studied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274320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code modules delivered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1280160"/>
            <a:ext cx="274320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B3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3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914400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compression achieved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108813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45720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Worklet Deliverable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Literature Review on LLMs and Reasoning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Literature_Review.md  —  10 papers, 4 sections, full citations.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Complete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Recent variants of CoT prompting algorithms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algorithms covered: CoT, Zero-shot CoT, L2M, SC, ReAct, ToT, Ranked-SC, CR, QCR.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Complete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QUBO understanding + analysis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qubo_basic_example.py  +  Literature_Review.md §C  (formulation + mapping).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Complete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BONUS – Working SLM + QUBO pipeline prototype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slm_qubo_pipeline.py  —  6-step pipeline, runs end-to-end on CPU.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Ahead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Technical Challenges and Resolutions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685800" cy="1143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25880" y="1280160"/>
            <a:ext cx="10241280" cy="114300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3533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reasoning fragments to QUBO variables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645920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a principled way to score relevance + redundancy from unstructured text.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using TF-IDF + cosine similarity (sklearn) — Qᵢᵢ = −relevance, Qᵢⱼ = +redundancy. Cleanly handles arbitrary numbers of fragments.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685800" cy="1143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25880" y="2514600"/>
            <a:ext cx="10241280" cy="114300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5877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quantum optimisation without quantum hardware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D-Wave hardware needs a Leap account and is not deterministic for testing.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dwave-neal (open-source) on CPU with fixed seed → reproducible Simulated Annealing. dimod abstraction allows one-line swap to DWaveSampler later.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685800" cy="1143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4904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325880" y="3749040"/>
            <a:ext cx="10241280" cy="114300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822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SLM on CPU during development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14800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Llama-3.2-3B requires ~6 GB VRAM and is slow on CPU; blocks rapid iteration.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MockSLM class with realistic deterministic outputs for the pipeline. USE_MOCK_SLM flag flips to TinyLlama-1.1B / Llama-3.2-3B on HPC.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685800" cy="1143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98348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325880" y="4983480"/>
            <a:ext cx="10241280" cy="114300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5056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how many fragments to keep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5349240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can return any-size subset; uncontrolled k leads to bloated prompts.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MAX_FRAGMENTS_OUT cap; if QUBO returns more, we re-rank by Qᵢᵢ (most-relevant first). Maintains compression target.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 So Far – Pipeline Measurements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below come directly from running slm_qubo_pipeline.py on CPU  (MockSLM, seed = 42).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28016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280160"/>
            <a:ext cx="4297680" cy="3657600"/>
          </a:xfrm>
          <a:prstGeom prst="rect">
            <a:avLst/>
          </a:prstGeom>
          <a:solidFill>
            <a:srgbClr val="F5F7FB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run summary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17830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y = 10, x − y =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 sampled: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(NUM_CHAINS)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Fragments extracted: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solver: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dwave-neal SA  (200 reads, 1000 sweeps)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Fragments selected: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→  prompt compression = 75 %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energy: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−0.75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 energy: 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−2.63   (3.5× better)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Wall-clock time: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 s  on a single CPU core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solidFill>
            <a:srgbClr val="E8EEF7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Answer produced by pipeline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5440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:  x + y = 10  and  x − y = 4    →    Step 2 :  Adding both → 2x = 14 → x = 7    →    Step 3 :  y = 10 − 7 = 3    →    Final Answer :  x = 7  and  y = 3  ✓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Observations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Optimisation-based selection beats naive concatenation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all 24 fragments costs energy −0.75 ;  the QUBO-selected 6 fragments score −2.63.  Lower energy = more relevant + less redundant subset.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compression directly translates to inference speed-up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prompts are ≈ 4× shorter than the naive concatenation, which on a real SLM means proportionally faster decoding and lower memory pressure.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Annealing is fast enough for online use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SA reads on a 24-variable problem finish in ≈ 0.11 s on a single CPU core — small compared to even one SLM forward pass.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297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structure is solver-agnostic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dwave-neal for an EmbeddingComposite(DWaveSampler()) is a one-line change.  This validates the future migration path to real quantum hardware.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303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is a reasonable bootstrap but has limits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captures surface lexical overlap, not semantic equivalence.  Sentence-transformer embeddings are an obvious next step for Jun-Jul.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Upcoming Month's Plan  (Jun – Jul 2026)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the worklet roadmap (slide 6 of original PDF) — moving from Feb-May (literature + understanding) into Jun-Jul (HPC integration).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371600"/>
            <a:ext cx="0" cy="475488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572768"/>
            <a:ext cx="182880" cy="182880"/>
          </a:xfrm>
          <a:prstGeom prst="ellipse">
            <a:avLst/>
          </a:prstGeom>
          <a:solidFill>
            <a:srgbClr val="1428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 –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1371600"/>
            <a:ext cx="978408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371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MockSLM → TinyLlama-1.1B-Chat on CPU sanity check, then Llama-3.2-3B-Instruct on Nvidia A100 HPC node.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463040" y="2395728"/>
            <a:ext cx="182880" cy="182880"/>
          </a:xfrm>
          <a:prstGeom prst="ellipse">
            <a:avLst/>
          </a:prstGeom>
          <a:solidFill>
            <a:srgbClr val="1428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2194560"/>
            <a:ext cx="978408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194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Hyper-parameter sweep (NUM_CHAINS, NUM_READS, REDUNDANCY_PENALTY) and accuracy benchmarking on GSM8K + MultiArith.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463040" y="3218688"/>
            <a:ext cx="182880" cy="182880"/>
          </a:xfrm>
          <a:prstGeom prst="ellipse">
            <a:avLst/>
          </a:prstGeom>
          <a:solidFill>
            <a:srgbClr val="1428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63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3017520"/>
            <a:ext cx="978408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017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TF-IDF with sentence-transformer embeddings (all-MiniLM-L6-v2) and re-measure.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463040" y="4041648"/>
            <a:ext cx="182880" cy="182880"/>
          </a:xfrm>
          <a:prstGeom prst="ellipse">
            <a:avLst/>
          </a:prstGeom>
          <a:solidFill>
            <a:srgbClr val="1428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3840480"/>
            <a:ext cx="978408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3840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HUBO (higher-order) terms for logical coherence — track QCR-LLM [9] formulation.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463040" y="4864608"/>
            <a:ext cx="182880" cy="182880"/>
          </a:xfrm>
          <a:prstGeom prst="ellipse">
            <a:avLst/>
          </a:prstGeom>
          <a:solidFill>
            <a:srgbClr val="1428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091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0" y="4663440"/>
            <a:ext cx="978408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CPU-friendly annealing extensions; document for the Aug-Sep simulating-on-CPU milestone.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463040" y="5687568"/>
            <a:ext cx="182880" cy="182880"/>
          </a:xfrm>
          <a:prstGeom prst="ellipse">
            <a:avLst/>
          </a:prstGeom>
          <a:solidFill>
            <a:srgbClr val="1428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532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7 – 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0" y="5486400"/>
            <a:ext cx="978408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5486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against vanilla Self-Consistency [5] and standard CoT [2] baselines; produce charts + write Jun-Jul report.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0"/>
            <a:ext cx="5029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Y. Liu et al., "Understanding LLMs: A Comprehensive Overview from Training to Inference," Neurocomputing 620 (2025).  doi: 10.1016/j.neucom.2024.129190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7556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Wei et al., "Chain-of-Thought Prompting Elicits Reasoning in Large Language Models," NeurIPS 2022.  doi: 10.1145/3579371.3589103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311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231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Kojima, S. Gu, M. Reid, et al., "Large Language Models are Zero-Shot Reasoners," NeurIPS 2022.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7066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Yao, J. Zhao, D. Yu, et al., "ReAct: Synergizing Reasoning and Acting in Language Models," ICLR 2023.  arXiv:2210.03629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182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1821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 Wang, J. Wei, D. Schuurmans, et al., "Self-Consistency Improves Chain of Thought Reasoning in Language Models," ICLR 2023.  arXiv:2203.11171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Yao, D. Yu, J. Zhao, et al., "Tree of Thoughts: Deliberate Problem Solving with Large Language Models," NeurIPS 2023.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1330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W. Wang, Y. Wang, H. Huang, "Ranked Voting Based Self-Consistency of Large Language Models," Findings of ACL 2025.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085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60857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Esencan et al., "Combinatorial Reasoning: Selecting Reasons in Generative AI Pipelines via Combinatorial Optimization," arXiv 2024.  arXiv:2407.00071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840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0840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Flores-Garrigós et al., "Quantum Combinatorial Reasoning for Large Language Models," arXiv 2025.  arXiv:2510.24509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559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55595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Chandarana et al., "Runtime Quantum Advantage with Digital Quantum Optimization," arXiv 2025.  arXiv:2505.08663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8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Research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0" y="4206240"/>
            <a:ext cx="21031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Worklet 26ARS05  |  PRISM Monthly Connect  |  May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Samsung Research.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Samsung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Quantum-Inspired AI Reasoning Systems - Monthly Connect May 2026</dc:title>
  <dc:subject>PptxGenJS Presentation</dc:subject>
  <dc:creator>Samsung PRISM | Worklet 26ARS05</dc:creator>
  <cp:lastModifiedBy>Samsung PRISM | Worklet 26ARS05</cp:lastModifiedBy>
  <cp:revision>1</cp:revision>
  <dcterms:created xsi:type="dcterms:W3CDTF">2026-05-18T01:42:11Z</dcterms:created>
  <dcterms:modified xsi:type="dcterms:W3CDTF">2026-05-18T01:42:11Z</dcterms:modified>
</cp:coreProperties>
</file>