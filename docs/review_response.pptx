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Fill after scripts/run_all_benchmarks.py and training/sft.py. Quote QUBO against SC-16, with the Wilson interval. Do not reuse the July 81-question or 100-question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markdown and json written by scripts/run_all_benchmarks.py. Columns already match pred_sc16, pred_best16, pred_qubo and ci95.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outputs/qlora_rounds/round_*/summary.json and benchmark.jsonl. The previous 40-question run stopped before the adapter was saved, so these cells are empty.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965960"/>
            <a:ext cx="457200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84831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E4A"/>
                </a:solidFill>
                <a:latin typeface="Calibri"/>
              </a:rPr>
              <a:t>Review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789920" cy="1737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C1C1C"/>
                </a:solidFill>
                <a:latin typeface="Calibri"/>
              </a:rPr>
              <a:t>Quantum-inspired annealing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4000" b="1">
                <a:solidFill>
                  <a:srgbClr val="1C1C1C"/>
                </a:solidFill>
                <a:latin typeface="Calibri"/>
              </a:rPr>
              <a:t>for multi-stage reasoning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E656B"/>
                </a:solidFill>
                <a:latin typeface="Calibri"/>
              </a:rPr>
              <a:t>What the review asked for, what the pipeline does now,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800" b="0">
                <a:solidFill>
                  <a:srgbClr val="5E656B"/>
                </a:solidFill>
                <a:latin typeface="Calibri"/>
              </a:rPr>
              <a:t>and blank pages for the benchmark you will append.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56B"/>
                </a:solidFill>
                <a:latin typeface="Calibri"/>
              </a:rPr>
              <a:t>main  ·  October 2026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Effect">
                      <p:stCondLst>
                        <p:cond delay="0"/>
                      </p:stCondLst>
                      <p:childTnLst>
                        <p:par>
                          <p:cTn id="12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3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Effect">
                      <p:stCondLst>
                        <p:cond delay="0"/>
                      </p:stCondLst>
                      <p:childTnLst>
                        <p:par>
                          <p:cTn id="1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7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9184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C1C1C"/>
                </a:solidFill>
                <a:latin typeface="Calibri"/>
              </a:rPr>
              <a:t>Why each step is there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2  /  17</a:t>
            </a:r>
          </a:p>
        </p:txBody>
      </p:sp>
      <p:pic>
        <p:nvPicPr>
          <p:cNvPr id="7" name="Picture 6" descr="image-7b2989af-b1be-4d88-9dcf-cef1e6d093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078992"/>
            <a:ext cx="2680134" cy="534924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1559523" y="1218438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3320214" y="1188720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4262" y="1170432"/>
            <a:ext cx="8121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One question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4262" y="1444752"/>
            <a:ext cx="812167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56B"/>
                </a:solidFill>
                <a:latin typeface="Calibri"/>
              </a:rPr>
              <a:t>Everything after this box is about a single query. The prompt is not rewritten until a subset of traces has been chosen.</a:t>
            </a:r>
          </a:p>
        </p:txBody>
      </p:sp>
      <p:sp>
        <p:nvSpPr>
          <p:cNvPr id="12" name="Oval 11"/>
          <p:cNvSpPr/>
          <p:nvPr/>
        </p:nvSpPr>
        <p:spPr>
          <a:xfrm>
            <a:off x="1505920" y="1753362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3320214" y="2176272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4262" y="2157984"/>
            <a:ext cx="8121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Several traces, on 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4262" y="2432304"/>
            <a:ext cx="812167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56B"/>
                </a:solidFill>
                <a:latin typeface="Calibri"/>
              </a:rPr>
              <a:t>Four prompt styles and four samples. Selection only means something if there is a set to choose from, not one greedy trace.</a:t>
            </a:r>
          </a:p>
        </p:txBody>
      </p:sp>
      <p:sp>
        <p:nvSpPr>
          <p:cNvPr id="16" name="Oval 15"/>
          <p:cNvSpPr/>
          <p:nvPr/>
        </p:nvSpPr>
        <p:spPr>
          <a:xfrm>
            <a:off x="433866" y="2288286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3320214" y="3163824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4262" y="3145536"/>
            <a:ext cx="8121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Scores become an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4262" y="3419856"/>
            <a:ext cx="812167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56B"/>
                </a:solidFill>
                <a:latin typeface="Calibri"/>
              </a:rPr>
              <a:t>Correctness and redundant wording are one cost. The search is locked to exactly K traces. At this size that search is exhaustive, not a quantum processor.</a:t>
            </a:r>
          </a:p>
        </p:txBody>
      </p:sp>
      <p:sp>
        <p:nvSpPr>
          <p:cNvPr id="20" name="Oval 19"/>
          <p:cNvSpPr/>
          <p:nvPr/>
        </p:nvSpPr>
        <p:spPr>
          <a:xfrm>
            <a:off x="433866" y="2823210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3320214" y="4151376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4262" y="4133088"/>
            <a:ext cx="8121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One answer, then the wording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4262" y="4407408"/>
            <a:ext cx="812167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56B"/>
                </a:solidFill>
                <a:latin typeface="Calibri"/>
              </a:rPr>
              <a:t>The majority answer is chosen first. QUBO then picks diverse rationales inside that answer, so conflicting finals never share the prompt.</a:t>
            </a:r>
          </a:p>
        </p:txBody>
      </p:sp>
      <p:sp>
        <p:nvSpPr>
          <p:cNvPr id="24" name="Oval 23"/>
          <p:cNvSpPr/>
          <p:nvPr/>
        </p:nvSpPr>
        <p:spPr>
          <a:xfrm>
            <a:off x="433866" y="3411626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3320214" y="5138928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4262" y="5120640"/>
            <a:ext cx="8121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The prompt the model actually sees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4262" y="5394960"/>
            <a:ext cx="812167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56B"/>
                </a:solidFill>
                <a:latin typeface="Calibri"/>
              </a:rPr>
              <a:t>Only the surviving rationales are written into the final prompt. The answer is generated from that prompt.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1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Effect">
                      <p:stCondLst>
                        <p:cond delay="0"/>
                      </p:stCondLst>
                      <p:childTnLst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1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4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Effect">
                      <p:stCondLst>
                        <p:cond delay="0"/>
                      </p:stCondLst>
                      <p:childTnLst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1" dur="450"/>
                                  <p:tgtEl>
                                    <p:spTgt spid="13"/>
                                  </p:tgtEl>
                                </p:cBhvr>
                              </p:animEffec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4" dur="450"/>
                                  <p:tgtEl>
                                    <p:spTgt spid="14"/>
                                  </p:tgtEl>
                                </p:cBhvr>
                              </p:animEffec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7" dur="450"/>
                                  <p:tgtEl>
                                    <p:spTgt spid="15"/>
                                  </p:tgtEl>
                                </p:cBhvr>
                              </p:animEffec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Effect">
                      <p:stCondLst>
                        <p:cond delay="0"/>
                      </p:stCondLst>
                      <p:childTnLst>
                        <p:par>
                          <p:cTn id="5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1" dur="450"/>
                                  <p:tgtEl>
                                    <p:spTgt spid="16"/>
                                  </p:tgtEl>
                                </p:cBhvr>
                              </p:animEffec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5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4" dur="450"/>
                                  <p:tgtEl>
                                    <p:spTgt spid="17"/>
                                  </p:tgtEl>
                                </p:cBhvr>
                              </p:animEffec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5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7" dur="450"/>
                                  <p:tgtEl>
                                    <p:spTgt spid="18"/>
                                  </p:tgtEl>
                                </p:cBhvr>
                              </p:animEffec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5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0" dur="450"/>
                                  <p:tgtEl>
                                    <p:spTgt spid="19"/>
                                  </p:tgtEl>
                                </p:cBhvr>
                              </p:animEffec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Effect">
                      <p:stCondLst>
                        <p:cond delay="0"/>
                      </p:stCondLst>
                      <p:childTnLst>
                        <p:par>
                          <p:cTn id="6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4" dur="450"/>
                                  <p:tgtEl>
                                    <p:spTgt spid="20"/>
                                  </p:tgtEl>
                                </p:cBhvr>
                              </p:animEffec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7" dur="450"/>
                                  <p:tgtEl>
                                    <p:spTgt spid="21"/>
                                  </p:tgtEl>
                                </p:cBhvr>
                              </p:animEffec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70" dur="450"/>
                                  <p:tgtEl>
                                    <p:spTgt spid="22"/>
                                  </p:tgtEl>
                                </p:cBhvr>
                              </p:animEffec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72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73" dur="450"/>
                                  <p:tgtEl>
                                    <p:spTgt spid="23"/>
                                  </p:tgtEl>
                                </p:cBhvr>
                              </p:animEffec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Effect">
                      <p:stCondLst>
                        <p:cond delay="0"/>
                      </p:stCondLst>
                      <p:childTnLst>
                        <p:par>
                          <p:cTn id="7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77" dur="450"/>
                                  <p:tgtEl>
                                    <p:spTgt spid="24"/>
                                  </p:tgtEl>
                                </p:cBhvr>
                              </p:animEffec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7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0" dur="450"/>
                                  <p:tgtEl>
                                    <p:spTgt spid="25"/>
                                  </p:tgtEl>
                                </p:cBhvr>
                              </p:animEffec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2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3" dur="450"/>
                                  <p:tgtEl>
                                    <p:spTgt spid="26"/>
                                  </p:tgtEl>
                                </p:cBhvr>
                              </p:animEffec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6" dur="450"/>
                                  <p:tgtEl>
                                    <p:spTgt spid="27"/>
                                  </p:tgtEl>
                                </p:cBhvr>
                              </p:animEffect>
                              <p:set>
                                <p:cBhvr>
                                  <p:cTn id="8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9184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C1C1C"/>
                </a:solidFill>
                <a:latin typeface="Calibri"/>
              </a:rPr>
              <a:t>Why the loop comes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3  /  17</a:t>
            </a:r>
          </a:p>
        </p:txBody>
      </p:sp>
      <p:pic>
        <p:nvPicPr>
          <p:cNvPr id="7" name="Picture 6" descr="image-7b2989af-b1be-4d88-9dcf-cef1e6d093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078992"/>
            <a:ext cx="2680134" cy="534924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1881139" y="3946550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3320214" y="1188720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4262" y="1170432"/>
            <a:ext cx="8121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The adapter learns this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4262" y="1444752"/>
            <a:ext cx="812167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56B"/>
                </a:solidFill>
                <a:latin typeface="Calibri"/>
              </a:rPr>
              <a:t>QLoRA trains on the selected prompt plus the gold completion. The next round samples with the saved adapter, not the base model.</a:t>
            </a:r>
          </a:p>
        </p:txBody>
      </p:sp>
      <p:sp>
        <p:nvSpPr>
          <p:cNvPr id="12" name="Oval 11"/>
          <p:cNvSpPr/>
          <p:nvPr/>
        </p:nvSpPr>
        <p:spPr>
          <a:xfrm>
            <a:off x="433866" y="4588459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3320214" y="2176272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4262" y="2157984"/>
            <a:ext cx="8121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Same model, LoRA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4262" y="2432304"/>
            <a:ext cx="812167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56B"/>
                </a:solidFill>
                <a:latin typeface="Calibri"/>
              </a:rPr>
              <a:t>The figure says Qwen 3B. The default config is Qwen2.5-1.5B-Instruct. The fast config is Qwen2.5-3B-Instruct.</a:t>
            </a:r>
          </a:p>
        </p:txBody>
      </p:sp>
      <p:sp>
        <p:nvSpPr>
          <p:cNvPr id="16" name="Oval 15"/>
          <p:cNvSpPr/>
          <p:nvPr/>
        </p:nvSpPr>
        <p:spPr>
          <a:xfrm>
            <a:off x="433866" y="5176875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3320214" y="3163824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4262" y="3145536"/>
            <a:ext cx="8121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The line that gets graded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4262" y="3419856"/>
            <a:ext cx="812167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56B"/>
                </a:solidFill>
                <a:latin typeface="Calibri"/>
              </a:rPr>
              <a:t>Greedy decode from the selected prompt. This string is the prediction. It is not an input to the trace score.</a:t>
            </a:r>
          </a:p>
        </p:txBody>
      </p:sp>
      <p:sp>
        <p:nvSpPr>
          <p:cNvPr id="20" name="Oval 19"/>
          <p:cNvSpPr/>
          <p:nvPr/>
        </p:nvSpPr>
        <p:spPr>
          <a:xfrm>
            <a:off x="1773934" y="5925769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3320214" y="4151376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4262" y="4133088"/>
            <a:ext cx="8121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The only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4262" y="4407408"/>
            <a:ext cx="812167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56B"/>
                </a:solidFill>
                <a:latin typeface="Calibri"/>
              </a:rPr>
              <a:t>Traces, the adapter, and the benchmark files land in the outputs directory. The next round reads that directory.</a:t>
            </a:r>
          </a:p>
        </p:txBody>
      </p:sp>
      <p:sp>
        <p:nvSpPr>
          <p:cNvPr id="24" name="Oval 23"/>
          <p:cNvSpPr/>
          <p:nvPr/>
        </p:nvSpPr>
        <p:spPr>
          <a:xfrm>
            <a:off x="2631577" y="2876702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3320214" y="5138928"/>
            <a:ext cx="256032" cy="256032"/>
          </a:xfrm>
          <a:prstGeom prst="ellipse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4262" y="5120640"/>
            <a:ext cx="8121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Two loops, two jobs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4262" y="5394960"/>
            <a:ext cx="812167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56B"/>
                </a:solidFill>
                <a:latin typeface="Calibri"/>
              </a:rPr>
              <a:t>Re-run the benchmark on held-out questions. Retrain from the saved adapter. Gold grades the benchmark. It does not score the traces.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1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Effect">
                      <p:stCondLst>
                        <p:cond delay="0"/>
                      </p:stCondLst>
                      <p:childTnLst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1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4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Effect">
                      <p:stCondLst>
                        <p:cond delay="0"/>
                      </p:stCondLst>
                      <p:childTnLst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1" dur="450"/>
                                  <p:tgtEl>
                                    <p:spTgt spid="13"/>
                                  </p:tgtEl>
                                </p:cBhvr>
                              </p:animEffec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4" dur="450"/>
                                  <p:tgtEl>
                                    <p:spTgt spid="14"/>
                                  </p:tgtEl>
                                </p:cBhvr>
                              </p:animEffec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7" dur="450"/>
                                  <p:tgtEl>
                                    <p:spTgt spid="15"/>
                                  </p:tgtEl>
                                </p:cBhvr>
                              </p:animEffec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Effect">
                      <p:stCondLst>
                        <p:cond delay="0"/>
                      </p:stCondLst>
                      <p:childTnLst>
                        <p:par>
                          <p:cTn id="5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1" dur="450"/>
                                  <p:tgtEl>
                                    <p:spTgt spid="16"/>
                                  </p:tgtEl>
                                </p:cBhvr>
                              </p:animEffec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5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4" dur="450"/>
                                  <p:tgtEl>
                                    <p:spTgt spid="17"/>
                                  </p:tgtEl>
                                </p:cBhvr>
                              </p:animEffec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5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7" dur="450"/>
                                  <p:tgtEl>
                                    <p:spTgt spid="18"/>
                                  </p:tgtEl>
                                </p:cBhvr>
                              </p:animEffec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5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0" dur="450"/>
                                  <p:tgtEl>
                                    <p:spTgt spid="19"/>
                                  </p:tgtEl>
                                </p:cBhvr>
                              </p:animEffec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Effect">
                      <p:stCondLst>
                        <p:cond delay="0"/>
                      </p:stCondLst>
                      <p:childTnLst>
                        <p:par>
                          <p:cTn id="6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4" dur="450"/>
                                  <p:tgtEl>
                                    <p:spTgt spid="20"/>
                                  </p:tgtEl>
                                </p:cBhvr>
                              </p:animEffec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7" dur="450"/>
                                  <p:tgtEl>
                                    <p:spTgt spid="21"/>
                                  </p:tgtEl>
                                </p:cBhvr>
                              </p:animEffec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70" dur="450"/>
                                  <p:tgtEl>
                                    <p:spTgt spid="22"/>
                                  </p:tgtEl>
                                </p:cBhvr>
                              </p:animEffec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72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73" dur="450"/>
                                  <p:tgtEl>
                                    <p:spTgt spid="23"/>
                                  </p:tgtEl>
                                </p:cBhvr>
                              </p:animEffec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Effect">
                      <p:stCondLst>
                        <p:cond delay="0"/>
                      </p:stCondLst>
                      <p:childTnLst>
                        <p:par>
                          <p:cTn id="7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77" dur="450"/>
                                  <p:tgtEl>
                                    <p:spTgt spid="24"/>
                                  </p:tgtEl>
                                </p:cBhvr>
                              </p:animEffec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7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0" dur="450"/>
                                  <p:tgtEl>
                                    <p:spTgt spid="25"/>
                                  </p:tgtEl>
                                </p:cBhvr>
                              </p:animEffec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2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3" dur="450"/>
                                  <p:tgtEl>
                                    <p:spTgt spid="26"/>
                                  </p:tgtEl>
                                </p:cBhvr>
                              </p:animEffec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6" dur="450"/>
                                  <p:tgtEl>
                                    <p:spTgt spid="27"/>
                                  </p:tgtEl>
                                </p:cBhvr>
                              </p:animEffect>
                              <p:set>
                                <p:cBhvr>
                                  <p:cTn id="8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Gold is not part of the trace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4  /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C1C1C"/>
                </a:solidFill>
                <a:latin typeface="Calibri"/>
              </a:rPr>
              <a:t>S_final   =   0.40 S_SC   +   0.30 S_NLI   +   0.20 S_Conf   +   0.10 S_Arith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5E656B"/>
                </a:solidFill>
                <a:latin typeface="Calibri"/>
              </a:rPr>
              <a:t>Math weights. Commonsense uses 0.50, 0.30, 0.20, and 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Self-consistency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063240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E656B"/>
                </a:solidFill>
                <a:latin typeface="Calibri"/>
              </a:rPr>
              <a:t>Share of traces that land on this same answer.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404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Entailment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840480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E656B"/>
                </a:solidFill>
                <a:latin typeface="Calibri"/>
              </a:rPr>
              <a:t>Probability that the rationale entails the question.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17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617720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E656B"/>
                </a:solidFill>
                <a:latin typeface="Calibri"/>
              </a:rPr>
              <a:t>Exponential of the mean log probability of the generated tokens.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949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Arithmetic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5394960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E656B"/>
                </a:solidFill>
                <a:latin typeface="Calibri"/>
              </a:rPr>
              <a:t>Checked equations over equations found. Used for math. Weight zero on commonsense.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26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56B"/>
                </a:solidFill>
                <a:latin typeface="Calibri"/>
              </a:rPr>
              <a:t>Commonsense weights are 0.50, 0.30, 0.20, 0.  Gold remains the training completion and the grader.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Effect">
                      <p:stCondLst>
                        <p:cond delay="0"/>
                      </p:stCondLst>
                      <p:childTnLst>
                        <p:par>
                          <p:cTn id="2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2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Effect">
                      <p:stCondLst>
                        <p:cond delay="0"/>
                      </p:stCondLst>
                      <p:childTnLst>
                        <p:par>
                          <p:cTn id="2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9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2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5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1" dur="450"/>
                                  <p:tgtEl>
                                    <p:spTgt spid="13"/>
                                  </p:tgtEl>
                                </p:cBhvr>
                              </p:animEffec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4" dur="450"/>
                                  <p:tgtEl>
                                    <p:spTgt spid="14"/>
                                  </p:tgtEl>
                                </p:cBhvr>
                              </p:animEffec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7" dur="450"/>
                                  <p:tgtEl>
                                    <p:spTgt spid="15"/>
                                  </p:tgtEl>
                                </p:cBhvr>
                              </p:animEffec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0" dur="450"/>
                                  <p:tgtEl>
                                    <p:spTgt spid="16"/>
                                  </p:tgtEl>
                                </p:cBhvr>
                              </p:animEffec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 nodeType="clickEffect">
                      <p:stCondLst>
                        <p:cond delay="0"/>
                      </p:stCondLst>
                      <p:childTnLst>
                        <p:par>
                          <p:cTn id="5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4" dur="450"/>
                                  <p:tgtEl>
                                    <p:spTgt spid="17"/>
                                  </p:tgtEl>
                                </p:cBhvr>
                              </p:animEffec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The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Seven comments, and where each stands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5  /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544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Exact subset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5544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Addressed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1284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12848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Same generation budget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221284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Addressed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71215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71215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Sample size and noise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871215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A5A2A"/>
                </a:solidFill>
                <a:latin typeface="Calibri"/>
              </a:rPr>
              <a:t>Partial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52958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529584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Train, validate,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52958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Addressed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18795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187952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Do not mix conflicting answers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1879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Addressed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463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463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Learn the weights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48463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A5A2A"/>
                </a:solidFill>
                <a:latin typeface="Calibri"/>
              </a:rPr>
              <a:t>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50468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504688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Verified preference pairs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550468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4A"/>
                </a:solidFill>
                <a:latin typeface="Calibri"/>
              </a:rPr>
              <a:t>Addressed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656B"/>
                </a:solidFill>
                <a:latin typeface="Calibri"/>
              </a:rPr>
              <a:t>Protocol checks: tests/test_protocol.py, 15 passed. No benchmark number in this deck is from the new run.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Effect">
                      <p:stCondLst>
                        <p:cond delay="0"/>
                      </p:stCondLst>
                      <p:childTnLst>
                        <p:par>
                          <p:cTn id="2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2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1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4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7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Effect">
                      <p:stCondLst>
                        <p:cond delay="0"/>
                      </p:stCondLst>
                      <p:childTnLst>
                        <p:par>
                          <p:cTn id="4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1" dur="450"/>
                                  <p:tgtEl>
                                    <p:spTgt spid="13"/>
                                  </p:tgtEl>
                                </p:cBhvr>
                              </p:animEffec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4" dur="450"/>
                                  <p:tgtEl>
                                    <p:spTgt spid="14"/>
                                  </p:tgtEl>
                                </p:cBhvr>
                              </p:animEffec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7" dur="450"/>
                                  <p:tgtEl>
                                    <p:spTgt spid="15"/>
                                  </p:tgtEl>
                                </p:cBhvr>
                              </p:animEffec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0" dur="450"/>
                                  <p:tgtEl>
                                    <p:spTgt spid="16"/>
                                  </p:tgtEl>
                                </p:cBhvr>
                              </p:animEffec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52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3" dur="450"/>
                                  <p:tgtEl>
                                    <p:spTgt spid="17"/>
                                  </p:tgtEl>
                                </p:cBhvr>
                              </p:animEffec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5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6" dur="450"/>
                                  <p:tgtEl>
                                    <p:spTgt spid="18"/>
                                  </p:tgtEl>
                                </p:cBhvr>
                              </p:animEffec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 nodeType="clickEffect">
                      <p:stCondLst>
                        <p:cond delay="0"/>
                      </p:stCondLst>
                      <p:childTnLst>
                        <p:par>
                          <p:cTn id="5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0" dur="450"/>
                                  <p:tgtEl>
                                    <p:spTgt spid="19"/>
                                  </p:tgtEl>
                                </p:cBhvr>
                              </p:animEffec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2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3" dur="450"/>
                                  <p:tgtEl>
                                    <p:spTgt spid="20"/>
                                  </p:tgtEl>
                                </p:cBhvr>
                              </p:animEffec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6" dur="450"/>
                                  <p:tgtEl>
                                    <p:spTgt spid="21"/>
                                  </p:tgtEl>
                                </p:cBhvr>
                              </p:animEffect>
                              <p:set>
                                <p:cBhvr>
                                  <p:cTn id="6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9" dur="450"/>
                                  <p:tgtEl>
                                    <p:spTgt spid="22"/>
                                  </p:tgtEl>
                                </p:cBhvr>
                              </p:animEffec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7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72" dur="450"/>
                                  <p:tgtEl>
                                    <p:spTgt spid="23"/>
                                  </p:tgtEl>
                                </p:cBhvr>
                              </p:animEffec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7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75" dur="450"/>
                                  <p:tgtEl>
                                    <p:spTgt spid="24"/>
                                  </p:tgtEl>
                                </p:cBhvr>
                              </p:animEffec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7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78" dur="450"/>
                                  <p:tgtEl>
                                    <p:spTgt spid="25"/>
                                  </p:tgtEl>
                                </p:cBhvr>
                              </p:animEffect>
                              <p:set>
                                <p:cBhvr>
                                  <p:cTn id="7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1" dur="450"/>
                                  <p:tgtEl>
                                    <p:spTgt spid="26"/>
                                  </p:tgtEl>
                                </p:cBhvr>
                              </p:animEffec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4" dur="450"/>
                                  <p:tgtEl>
                                    <p:spTgt spid="27"/>
                                  </p:tgtEl>
                                </p:cBhvr>
                              </p:animEffec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7" dur="450"/>
                                  <p:tgtEl>
                                    <p:spTgt spid="28"/>
                                  </p:tgtEl>
                                </p:cBhvr>
                              </p:animEffec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01   of 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Force a subset of size 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6  /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713232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4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F4E4A"/>
                </a:solidFill>
                <a:latin typeface="Calibri"/>
              </a:rPr>
              <a:t>Addressed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534924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562356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The comment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The energy had no cardinality term, so any extra trace with a small score could be kept. Coefficients should be tuned on a validation set, never on the test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874519"/>
            <a:ext cx="5212080" cy="3657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What changed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solver now returns exactly K traces. K is the subset size, default 6.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soft penalty is off. Size K is the search space, not a weighted hint.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With 20 or fewer candidates, every size-K subset is scored. That result is the optimum.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Above 20, annealing never leaves the exact-K slice.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tuner reads a GSM8K train hold-out. The checked-in coefficients are marked stale until that script is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62356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pipeline/qubo_math.py   ·   pipeline/solver.py   ·   scripts/tune_qubo_params.py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1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Effect">
                      <p:stCondLst>
                        <p:cond delay="0"/>
                      </p:stCondLst>
                      <p:childTnLst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Effect">
                      <p:stCondLst>
                        <p:cond delay="0"/>
                      </p:stCondLst>
                      <p:childTnLst>
                        <p:par>
                          <p:cTn id="3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2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5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02   of 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Compare at the same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7  /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713232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4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F4E4A"/>
                </a:solidFill>
                <a:latin typeface="Calibri"/>
              </a:rPr>
              <a:t>Addressed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534924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562356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The comment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QUBO saw 16 traces and chain-of-thought saw one, so a gain could be sampling rather than selection. At 16 variables, exhaustive search is cheap enough to be the ground truth.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874519"/>
            <a:ext cx="5212080" cy="3657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What changed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One pool of 16 traces: four templates, four samples.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Self-consistency, best-of-16, and QUBO all read that same pool.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comparison to quote is QUBO against self-consistency on those 16.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Greedy and chain-of-thought stay on the page as single-sample references.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For 16 traces and K = 6 the solver enumerates all 8,008 size-K subsets.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62356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pipeline/matched_baselines.py   ·   scripts/run_all_benchmarks.py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1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Effect">
                      <p:stCondLst>
                        <p:cond delay="0"/>
                      </p:stCondLst>
                      <p:childTnLst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Effect">
                      <p:stCondLst>
                        <p:cond delay="0"/>
                      </p:stCondLst>
                      <p:childTnLst>
                        <p:par>
                          <p:cTn id="3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2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5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03   of 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Eighty or a hundred is noisy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8  /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713232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A5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8A5A2A"/>
                </a:solidFill>
                <a:latin typeface="Calibri"/>
              </a:rPr>
              <a:t>Partial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534924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562356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The comment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Reported runs of 81 or 100 questions are too small. Differences on MMLU and BBH can be sampling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874519"/>
            <a:ext cx="5212080" cy="3657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What changed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report now carries a Wilson 95% interval on each accuracy.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A calibration helper, expected calibration error, is in the code.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configured slice is 200 questions, and full evaluation is still off.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Old 81 and 100 figures are not results of this protocol.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A claim waits on a larger run. The tables at the end are blank for that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62356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pipeline/stats_utils.py   ·   config/config.yaml   evaluation.subset_size 200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1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Effect">
                      <p:stCondLst>
                        <p:cond delay="0"/>
                      </p:stCondLst>
                      <p:childTnLst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Effect">
                      <p:stCondLst>
                        <p:cond delay="0"/>
                      </p:stCondLst>
                      <p:childTnLst>
                        <p:par>
                          <p:cTn id="3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2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5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04   of 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Keep the test set unseen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9  /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713232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4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F4E4A"/>
                </a:solidFill>
                <a:latin typeface="Calibri"/>
              </a:rPr>
              <a:t>Addressed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534924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562356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The comment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GSM8K was used both to build training chains and to evaluate. Train on the training split, tune on a held-out slice of that split, and do not touch test questions while designing prompts, weights, or thresholds.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874519"/>
            <a:ext cx="5212080" cy="3657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What changed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Supervised traces are sampled from the GSM8K training split.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benchmark pass uses the test split, and it runs after training.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QUBO grid never loads the official test set.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Training data keeps a 90 / 10 split inside the training pool.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verifier does not receive gold. There is no near-duplicate filter yet.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62356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training/sft.py   ·   scripts/generate_training_data.py   ·   scripts/tune_qubo_params.py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1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Effect">
                      <p:stCondLst>
                        <p:cond delay="0"/>
                      </p:stCondLst>
                      <p:childTnLst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Effect">
                      <p:stCondLst>
                        <p:cond delay="0"/>
                      </p:stCondLst>
                      <p:childTnLst>
                        <p:par>
                          <p:cTn id="3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2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5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05   of 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One answer in the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10  /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713232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4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F4E4A"/>
                </a:solidFill>
                <a:latin typeface="Calibri"/>
              </a:rPr>
              <a:t>Addressed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534924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562356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The comment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Do not penalise every pair of traces that share a final answer. Penalise duplicate rationales inside an answer group. Do not mix traces that support conflicting answers.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874519"/>
            <a:ext cx="5212080" cy="3657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What changed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Sharing an answer is no longer a penalty. That weight is zero.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cosine penalty runs inside the winning answer group.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winning group is the majority answer, with score as the tie-break.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QUBO then chooses which rationales from that group to keep.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final prompt drops any trace whose answer conflicts with that group.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62356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pipeline/answer_groups.py   ·   pipeline/qubo_builder.py   ·   pipeline/inference.py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1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Effect">
                      <p:stCondLst>
                        <p:cond delay="0"/>
                      </p:stCondLst>
                      <p:childTnLst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Effect">
                      <p:stCondLst>
                        <p:cond delay="0"/>
                      </p:stCondLst>
                      <p:childTnLst>
                        <p:par>
                          <p:cTn id="3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2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5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06   of 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Learn weights on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11  /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713232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A5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8A5A2A"/>
                </a:solidFill>
                <a:latin typeface="Calibri"/>
              </a:rPr>
              <a:t>Partial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534924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562356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The comment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Learn the fusion weights and the QUBO coefficients with nested validation. The target is final-answer accuracy and calibration, not correlation with an internal score.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874519"/>
            <a:ext cx="5212080" cy="3657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What changed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grid ranks QUBO coefficients by final-answer accuracy on the train hold-out.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It does not rank them by correlation with the verifier’s own score.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Calibration can be measured. The grid does not yet maximise it.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Fusion weights are still the hand-set values on the scoring slide.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There is no nested cross-validation.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62356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scripts/tune_qubo_params.py   ·   config/config.yaml   verifier.weights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1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Effect">
                      <p:stCondLst>
                        <p:cond delay="0"/>
                      </p:stCondLst>
                      <p:childTnLst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Effect">
                      <p:stCondLst>
                        <p:cond delay="0"/>
                      </p:stCondLst>
                      <p:childTnLst>
                        <p:par>
                          <p:cTn id="3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2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5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07   of 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Verified correct against incorrect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12  /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713232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4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F4E4A"/>
                </a:solidFill>
                <a:latin typeface="Calibri"/>
              </a:rPr>
              <a:t>Addressed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534924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5623560" cy="448056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The comment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Preference pairs should come from the same prompt. One solution is independently verified correct, the other incorrect. A self-score by itself is not a label.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874519"/>
            <a:ext cx="5212080" cy="3657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What changed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A pair is kept only when gold confirms one chain and rejects another.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Both chains are answers to the same question.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Self-score only picks which confirmed chain and which rejected chain.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The DPO trainer consumes those pairs.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That trainer has not been run, so this deck has no DPO accuracy.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62356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pipeline/preference_labels.py   ·   scripts/generate_preference_pairs.py   ·   training/run_dpo.py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1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Effect">
                      <p:stCondLst>
                        <p:cond delay="0"/>
                      </p:stCondLst>
                      <p:childTnLst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Effect">
                      <p:stCondLst>
                        <p:cond delay="0"/>
                      </p:stCondLst>
                      <p:childTnLst>
                        <p:par>
                          <p:cTn id="3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2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5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Before the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What this deck does not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13  /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No new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6002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56B"/>
                </a:solidFill>
                <a:latin typeface="Calibri"/>
              </a:rPr>
              <a:t>The benchmark and the QLoRA round were not finished. Disk was full before the adapter was saved.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6888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Fusion weights are chosen, not learned.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46888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56B"/>
                </a:solidFill>
                <a:latin typeface="Calibri"/>
              </a:rPr>
              <a:t>Math is 0.40, 0.30, 0.20, 0.10. Commonsense drops arithmetic.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375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The solver is exact enumeration.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3375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56B"/>
                </a:solidFill>
                <a:latin typeface="Calibri"/>
              </a:rPr>
              <a:t>For the 16-trace pool it is not a quantum processor and not simulated annealing.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062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The default model is 1.5B.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420624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56B"/>
                </a:solidFill>
                <a:latin typeface="Calibri"/>
              </a:rPr>
              <a:t>Qwen2.5-1.5B-Instruct. The 3B in the figure is the fast config.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074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A legacy script still reads old test files.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507492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56B"/>
                </a:solidFill>
                <a:latin typeface="Calibri"/>
              </a:rPr>
              <a:t>scripts/prepare_training_data.py is not the training path.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Effect">
                      <p:stCondLst>
                        <p:cond delay="0"/>
                      </p:stCondLst>
                      <p:childTnLst>
                        <p:par>
                          <p:cTn id="2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2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1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Effect">
                      <p:stCondLst>
                        <p:cond delay="0"/>
                      </p:stCondLst>
                      <p:childTnLst>
                        <p:par>
                          <p:cTn id="3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5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1" dur="450"/>
                                  <p:tgtEl>
                                    <p:spTgt spid="13"/>
                                  </p:tgtEl>
                                </p:cBhvr>
                              </p:animEffec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4" dur="450"/>
                                  <p:tgtEl>
                                    <p:spTgt spid="14"/>
                                  </p:tgtEl>
                                </p:cBhvr>
                              </p:animEffec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7" dur="450"/>
                                  <p:tgtEl>
                                    <p:spTgt spid="15"/>
                                  </p:tgtEl>
                                </p:cBhvr>
                              </p:animEffec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0" dur="450"/>
                                  <p:tgtEl>
                                    <p:spTgt spid="16"/>
                                  </p:tgtEl>
                                </p:cBhvr>
                              </p:animEffec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148840"/>
            <a:ext cx="457200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E4A"/>
                </a:solidFill>
                <a:latin typeface="Calibri"/>
              </a:rPr>
              <a:t>Append after the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974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C1C1C"/>
                </a:solidFill>
                <a:latin typeface="Calibri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E656B"/>
                </a:solidFill>
                <a:latin typeface="Calibri"/>
              </a:rPr>
              <a:t>The next three slides are empty on purpose.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800" b="0">
                <a:solidFill>
                  <a:srgbClr val="5E656B"/>
                </a:solidFill>
                <a:latin typeface="Calibri"/>
              </a:rPr>
              <a:t>Paste the matched-budget table and the QLoRA round here.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Effect">
                      <p:stCondLst>
                        <p:cond delay="0"/>
                      </p:stCondLst>
                      <p:childTnLst>
                        <p:par>
                          <p:cTn id="12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3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Effect">
                      <p:stCondLst>
                        <p:cond delay="0"/>
                      </p:stCondLst>
                      <p:childTnLst>
                        <p:par>
                          <p:cTn id="1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7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Matched budget, same 16 traces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15  / 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460"/>
                <a:gridCol w="1394460"/>
                <a:gridCol w="1394460"/>
                <a:gridCol w="1394460"/>
                <a:gridCol w="1394460"/>
                <a:gridCol w="1394460"/>
                <a:gridCol w="1394460"/>
                <a:gridCol w="1394460"/>
              </a:tblGrid>
              <a:tr h="655320">
                <a:tc>
                  <a:txBody>
                    <a:bodyPr wrap="square" lIns="36576" rIns="36576" tIns="36576" bIns="36576" anchor="ctr"/>
                    <a:lstStyle/>
                    <a:p>
                      <a:pPr algn="l"/>
                      <a:r>
                        <a:rPr sz="1200" b="1">
                          <a:solidFill>
                            <a:srgbClr val="1F4E4A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>
                    <a:solidFill>
                      <a:srgbClr val="F4F7F6"/>
                    </a:solidFill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F4E4A"/>
                          </a:solidFill>
                          <a:latin typeface="Calibri"/>
                        </a:rPr>
                        <a:t>Greedy</a:t>
                      </a:r>
                    </a:p>
                  </a:txBody>
                  <a:tcPr>
                    <a:solidFill>
                      <a:srgbClr val="F4F7F6"/>
                    </a:solidFill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F4E4A"/>
                          </a:solidFill>
                          <a:latin typeface="Calibri"/>
                        </a:rPr>
                        <a:t>CoT</a:t>
                      </a:r>
                    </a:p>
                  </a:txBody>
                  <a:tcPr>
                    <a:solidFill>
                      <a:srgbClr val="F4F7F6"/>
                    </a:solidFill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F4E4A"/>
                          </a:solidFill>
                          <a:latin typeface="Calibri"/>
                        </a:rPr>
                        <a:t>SC-16</a:t>
                      </a:r>
                    </a:p>
                  </a:txBody>
                  <a:tcPr>
                    <a:solidFill>
                      <a:srgbClr val="F4F7F6"/>
                    </a:solidFill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F4E4A"/>
                          </a:solidFill>
                          <a:latin typeface="Calibri"/>
                        </a:rPr>
                        <a:t>Best-16</a:t>
                      </a:r>
                    </a:p>
                  </a:txBody>
                  <a:tcPr>
                    <a:solidFill>
                      <a:srgbClr val="F4F7F6"/>
                    </a:solidFill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F4E4A"/>
                          </a:solidFill>
                          <a:latin typeface="Calibri"/>
                        </a:rPr>
                        <a:t>QUBO</a:t>
                      </a:r>
                    </a:p>
                  </a:txBody>
                  <a:tcPr>
                    <a:solidFill>
                      <a:srgbClr val="F4F7F6"/>
                    </a:solidFill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F4E4A"/>
                          </a:solidFill>
                          <a:latin typeface="Calibri"/>
                        </a:rPr>
                        <a:t>vs SC-16</a:t>
                      </a:r>
                    </a:p>
                  </a:txBody>
                  <a:tcPr>
                    <a:solidFill>
                      <a:srgbClr val="F4F7F6"/>
                    </a:solidFill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F4E4A"/>
                          </a:solidFill>
                          <a:latin typeface="Calibri"/>
                        </a:rPr>
                        <a:t>95% CI</a:t>
                      </a:r>
                    </a:p>
                  </a:txBody>
                  <a:tcPr>
                    <a:solidFill>
                      <a:srgbClr val="F4F7F6"/>
                    </a:solidFill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</a:tr>
              <a:tr h="655320">
                <a:tc>
                  <a:txBody>
                    <a:bodyPr wrap="square" lIns="36576" rIns="36576" tIns="36576" bIns="36576" anchor="ctr"/>
                    <a:lstStyle/>
                    <a:p>
                      <a:pPr algn="l"/>
                      <a:r>
                        <a:rPr sz="1400" b="1">
                          <a:solidFill>
                            <a:srgbClr val="1C1C1C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</a:tr>
              <a:tr h="655320">
                <a:tc>
                  <a:txBody>
                    <a:bodyPr wrap="square" lIns="36576" rIns="36576" tIns="36576" bIns="36576" anchor="ctr"/>
                    <a:lstStyle/>
                    <a:p>
                      <a:pPr algn="l"/>
                      <a:r>
                        <a:rPr sz="1400" b="1">
                          <a:solidFill>
                            <a:srgbClr val="1C1C1C"/>
                          </a:solidFill>
                          <a:latin typeface="Calibri"/>
                        </a:rPr>
                        <a:t>BBH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</a:tr>
              <a:tr h="655320">
                <a:tc>
                  <a:txBody>
                    <a:bodyPr wrap="square" lIns="36576" rIns="36576" tIns="36576" bIns="36576" anchor="ctr"/>
                    <a:lstStyle/>
                    <a:p>
                      <a:pPr algn="l"/>
                      <a:r>
                        <a:rPr sz="1400" b="1">
                          <a:solidFill>
                            <a:srgbClr val="1C1C1C"/>
                          </a:solidFill>
                          <a:latin typeface="Calibri"/>
                        </a:rPr>
                        <a:t>StrategyQA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</a:tr>
              <a:tr h="655320">
                <a:tc>
                  <a:txBody>
                    <a:bodyPr wrap="square" lIns="36576" rIns="36576" tIns="36576" bIns="36576" anchor="ctr"/>
                    <a:lstStyle/>
                    <a:p>
                      <a:pPr algn="l"/>
                      <a:r>
                        <a:rPr sz="1400" b="1">
                          <a:solidFill>
                            <a:srgbClr val="1C1C1C"/>
                          </a:solidFill>
                          <a:latin typeface="Calibri"/>
                        </a:rPr>
                        <a:t>ARC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</a:tr>
              <a:tr h="655320">
                <a:tc>
                  <a:txBody>
                    <a:bodyPr wrap="square" lIns="36576" rIns="36576" tIns="36576" bIns="36576" anchor="ctr"/>
                    <a:lstStyle/>
                    <a:p>
                      <a:pPr algn="l"/>
                      <a:r>
                        <a:rPr sz="1400" b="1">
                          <a:solidFill>
                            <a:srgbClr val="1C1C1C"/>
                          </a:solidFill>
                          <a:latin typeface="Calibri"/>
                        </a:rPr>
                        <a:t>MMLU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 lIns="36576" rIns="36576" tIns="36576" bIns="36576" anchor="ctr"/>
                    <a:lstStyle/>
                    <a:p>
                      <a:pPr algn="ctr"/>
                      <a:r>
                        <a:rPr sz="1400" b="0">
                          <a:solidFill>
                            <a:srgbClr val="B7B7B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  <a:lnL w="6350">
                      <a:solidFill>
                        <a:srgbClr val="E4E4E4"/>
                      </a:solidFill>
                    </a:lnL>
                    <a:lnR w="6350">
                      <a:solidFill>
                        <a:srgbClr val="E4E4E4"/>
                      </a:solidFill>
                    </a:lnR>
                    <a:lnT w="6350">
                      <a:solidFill>
                        <a:srgbClr val="E4E4E4"/>
                      </a:solidFill>
                    </a:lnT>
                    <a:lnB w="6350">
                      <a:solidFill>
                        <a:srgbClr val="E4E4E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56B"/>
                </a:solidFill>
                <a:latin typeface="Calibri"/>
              </a:rPr>
              <a:t>Replace each dash after the run. The gain that answers the review is QUBO minus SC-16, not QUBO minus chain-of-thought.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Effect">
                      <p:stCondLst>
                        <p:cond delay="0"/>
                      </p:stCondLst>
                      <p:childTnLst>
                        <p:par>
                          <p:cTn id="2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2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QLoRA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16  /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93391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4A"/>
                </a:solidFill>
                <a:latin typeface="Calibri"/>
              </a:rPr>
              <a:t>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7B7"/>
                </a:solidFill>
                <a:latin typeface="Calibri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93391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4A"/>
                </a:solidFill>
                <a:latin typeface="Calibri"/>
              </a:rPr>
              <a:t>Questions trained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4231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7B7"/>
                </a:solidFill>
                <a:latin typeface="Calibri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73736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993391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4A"/>
                </a:solidFill>
                <a:latin typeface="Calibri"/>
              </a:rPr>
              <a:t>Questions graded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4231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7B7"/>
                </a:solidFill>
                <a:latin typeface="Calibri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0332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5935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4A"/>
                </a:solidFill>
                <a:latin typeface="Calibri"/>
              </a:rPr>
              <a:t>Adapter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8912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7B7"/>
                </a:solidFill>
                <a:latin typeface="Calibri"/>
              </a:rPr>
              <a:t>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70332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395935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4A"/>
                </a:solidFill>
                <a:latin typeface="Calibri"/>
              </a:rPr>
              <a:t>Accuracy before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38912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7B7"/>
                </a:solidFill>
                <a:latin typeface="Calibri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703320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12700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395935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4A"/>
                </a:solidFill>
                <a:latin typeface="Calibri"/>
              </a:rPr>
              <a:t>Accuracy after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38912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7B7B7"/>
                </a:solidFill>
                <a:latin typeface="Calibri"/>
              </a:rPr>
              <a:t>—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Effect">
                      <p:stCondLst>
                        <p:cond delay="0"/>
                      </p:stCondLst>
                      <p:childTnLst>
                        <p:par>
                          <p:cTn id="2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2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1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4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6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7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0" dur="450"/>
                                  <p:tgtEl>
                                    <p:spTgt spid="13"/>
                                  </p:tgtEl>
                                </p:cBhvr>
                              </p:animEffec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2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3" dur="450"/>
                                  <p:tgtEl>
                                    <p:spTgt spid="14"/>
                                  </p:tgtEl>
                                </p:cBhvr>
                              </p:animEffec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6" dur="450"/>
                                  <p:tgtEl>
                                    <p:spTgt spid="15"/>
                                  </p:tgtEl>
                                </p:cBhvr>
                              </p:animEffec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Effect">
                      <p:stCondLst>
                        <p:cond delay="0"/>
                      </p:stCondLst>
                      <p:childTnLst>
                        <p:par>
                          <p:cTn id="49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0" dur="450"/>
                                  <p:tgtEl>
                                    <p:spTgt spid="16"/>
                                  </p:tgtEl>
                                </p:cBhvr>
                              </p:animEffec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52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3" dur="450"/>
                                  <p:tgtEl>
                                    <p:spTgt spid="17"/>
                                  </p:tgtEl>
                                </p:cBhvr>
                              </p:animEffec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5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6" dur="450"/>
                                  <p:tgtEl>
                                    <p:spTgt spid="18"/>
                                  </p:tgtEl>
                                </p:cBhvr>
                              </p:animEffec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5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9" dur="450"/>
                                  <p:tgtEl>
                                    <p:spTgt spid="19"/>
                                  </p:tgtEl>
                                </p:cBhvr>
                              </p:animEffec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2" dur="450"/>
                                  <p:tgtEl>
                                    <p:spTgt spid="20"/>
                                  </p:tgtEl>
                                </p:cBhvr>
                              </p:animEffect>
                              <p:set>
                                <p:cBhvr>
                                  <p:cTn id="6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5" dur="450"/>
                                  <p:tgtEl>
                                    <p:spTgt spid="21"/>
                                  </p:tgtEl>
                                </p:cBhvr>
                              </p:animEffec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8" dur="450"/>
                                  <p:tgtEl>
                                    <p:spTgt spid="22"/>
                                  </p:tgtEl>
                                </p:cBhvr>
                              </p:animEffec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7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71" dur="450"/>
                                  <p:tgtEl>
                                    <p:spTgt spid="23"/>
                                  </p:tgtEl>
                                </p:cBhvr>
                              </p:animEffec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7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74" dur="450"/>
                                  <p:tgtEl>
                                    <p:spTgt spid="24"/>
                                  </p:tgtEl>
                                </p:cBhvr>
                              </p:animEffect>
                              <p:set>
                                <p:cBhvr>
                                  <p:cTn id="7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384048" cy="13716"/>
          </a:xfrm>
          <a:prstGeom prst="rect">
            <a:avLst/>
          </a:prstGeom>
          <a:solidFill>
            <a:srgbClr val="1F4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4A"/>
                </a:solidFill>
                <a:latin typeface="Calibri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1C1C"/>
                </a:solidFill>
                <a:latin typeface="Calibri"/>
              </a:rPr>
              <a:t>Where the numbers will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Review response  · 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56B"/>
                </a:solidFill>
                <a:latin typeface="Calibri"/>
              </a:rPr>
              <a:t>17  /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Benchmark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60020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56B"/>
                </a:solidFill>
                <a:latin typeface="Calibri"/>
              </a:rPr>
              <a:t>scripts/run_all_benchmarks.py writes the per-benchmark accuracies, the SC-16 and best-of-16 columns, and the Wilson interval.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QLoRA card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69748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56B"/>
                </a:solidFill>
                <a:latin typeface="Calibri"/>
              </a:rPr>
              <a:t>training/sft.py writes outputs/qlora_rounds/round_*/summary.json after the test pass. The adapter is under checkpoints/.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947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Per-question detail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79476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56B"/>
                </a:solidFill>
                <a:latin typeface="Calibri"/>
              </a:rPr>
              <a:t>benchmark.jsonl in that same round folder. One row per question if a worked example is needed.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92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Do not paste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89204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56B"/>
                </a:solidFill>
                <a:latin typeface="Calibri"/>
              </a:rPr>
              <a:t>The July runs of 81 and 100 questions, and the old 0.7778 tuning figure. Both predate this protocol.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 nodeType="withEffect">
                      <p:stCondLst>
                        <p:cond delay="0"/>
                      </p:stCondLst>
                      <p:childTnLst>
                        <p:par>
                          <p:cTn id="5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2"/>
                                  </p:tgtEl>
                                </p:cBhvr>
                              </p:animEffec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9" dur="450"/>
                                  <p:tgtEl>
                                    <p:spTgt spid="3"/>
                                  </p:tgtEl>
                                </p:cBhvr>
                              </p:animEffec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2" dur="450"/>
                                  <p:tgtEl>
                                    <p:spTgt spid="4"/>
                                  </p:tgtEl>
                                </p:cBhvr>
                              </p:animEffec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5" dur="450"/>
                                  <p:tgtEl>
                                    <p:spTgt spid="5"/>
                                  </p:tgtEl>
                                </p:cBhvr>
                              </p:animEffec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Effect">
                      <p:stCondLst>
                        <p:cond delay="0"/>
                      </p:stCondLst>
                      <p:childTnLst>
                        <p:par>
                          <p:cTn id="21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2" dur="450"/>
                                  <p:tgtEl>
                                    <p:spTgt spid="7"/>
                                  </p:tgtEl>
                                </p:cBhvr>
                              </p:animEffec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5" dur="450"/>
                                  <p:tgtEl>
                                    <p:spTgt spid="8"/>
                                  </p:tgtEl>
                                </p:cBhvr>
                              </p:animEffec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28" dur="450"/>
                                  <p:tgtEl>
                                    <p:spTgt spid="9"/>
                                  </p:tgtEl>
                                </p:cBhvr>
                              </p:animEffec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1" dur="450"/>
                                  <p:tgtEl>
                                    <p:spTgt spid="10"/>
                                  </p:tgtEl>
                                </p:cBhvr>
                              </p:animEffec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Effect">
                      <p:stCondLst>
                        <p:cond delay="0"/>
                      </p:stCondLst>
                      <p:childTnLst>
                        <p:par>
                          <p:cTn id="34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5" dur="450"/>
                                  <p:tgtEl>
                                    <p:spTgt spid="11"/>
                                  </p:tgtEl>
                                </p:cBhvr>
                              </p:animEffec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37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38" dur="450"/>
                                  <p:tgtEl>
                                    <p:spTgt spid="12"/>
                                  </p:tgtEl>
                                </p:cBhvr>
                              </p:animEffec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1" dur="450"/>
                                  <p:tgtEl>
                                    <p:spTgt spid="13"/>
                                  </p:tgtEl>
                                </p:cBhvr>
                              </p:animEffec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43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4" dur="450"/>
                                  <p:tgtEl>
                                    <p:spTgt spid="14"/>
                                  </p:tgtEl>
                                </p:cBhvr>
                              </p:animEffec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 response — quantum-inspired annealing</dc:title>
  <dc:subject>How the seven review comments were addressed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